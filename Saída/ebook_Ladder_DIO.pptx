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7" r:id="rId2"/>
    <p:sldId id="263" r:id="rId3"/>
    <p:sldId id="264" r:id="rId4"/>
    <p:sldId id="286" r:id="rId5"/>
    <p:sldId id="261" r:id="rId6"/>
    <p:sldId id="287" r:id="rId7"/>
    <p:sldId id="262" r:id="rId8"/>
    <p:sldId id="288" r:id="rId9"/>
    <p:sldId id="271" r:id="rId10"/>
    <p:sldId id="289" r:id="rId11"/>
    <p:sldId id="272" r:id="rId12"/>
    <p:sldId id="290" r:id="rId13"/>
    <p:sldId id="277" r:id="rId14"/>
    <p:sldId id="291" r:id="rId15"/>
    <p:sldId id="285" r:id="rId16"/>
    <p:sldId id="292" r:id="rId17"/>
    <p:sldId id="284" r:id="rId18"/>
    <p:sldId id="283" r:id="rId19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8BEF00-A7FC-13C0-8E51-A97C0C537C67}" v="385" dt="2025-11-08T14:35:38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45" autoAdjust="0"/>
    <p:restoredTop sz="94660"/>
  </p:normalViewPr>
  <p:slideViewPr>
    <p:cSldViewPr snapToGrid="0" showGuides="1">
      <p:cViewPr varScale="1">
        <p:scale>
          <a:sx n="33" d="100"/>
          <a:sy n="33" d="100"/>
        </p:scale>
        <p:origin x="2472" y="54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08/11/2025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0072-6D31-42F3-B5CC-185B6D0A6822}" type="datetime1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A0BC-388F-4CA7-BE51-03B9510F86C7}" type="datetime1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B0A53-1723-472B-8809-AF93A93C6B7D}" type="datetime1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D0C2-0B29-4E63-8862-AEF7CD2FD74C}" type="datetime1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8ADD-7F35-4AEB-BEB1-AD3CCDF011CE}" type="datetime1">
              <a:rPr lang="pt-BR" smtClean="0"/>
              <a:t>08/11/2025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779A-9BC4-4AC0-8880-1B792DDACBDD}" type="datetime1">
              <a:rPr lang="pt-BR" smtClean="0"/>
              <a:t>08/11/2025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5754-B528-45A3-9A7A-655123E17D0E}" type="datetime1">
              <a:rPr lang="pt-BR" smtClean="0"/>
              <a:t>08/11/2025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C77C-1A26-4515-863F-461CD234F563}" type="datetime1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D11F-A570-44DC-98A9-9E7070BCD645}" type="datetime1">
              <a:rPr lang="pt-BR" smtClean="0"/>
              <a:t>08/11/2025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6D1A7-EFFC-4966-822B-4C00AB2CB4F1}" type="datetime1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B7C60-0DA7-42D4-A820-E1D03EB49949}" type="datetime1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AA1B-DFB8-467D-A20E-1BF5C572C99B}" type="datetime1">
              <a:rPr lang="pt-BR" smtClean="0"/>
              <a:t>08/11/2025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59D0F3-0831-BB4F-5869-4C89A7608B75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0D0A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jedi_img" descr="Homem de camisa azul em fundo escuro&#10;&#10;Descrição gerada automaticamente com confiança baixa">
            <a:extLst>
              <a:ext uri="{FF2B5EF4-FFF2-40B4-BE49-F238E27FC236}">
                <a16:creationId xmlns:a16="http://schemas.microsoft.com/office/drawing/2014/main" id="{37B0524B-3D93-0DB0-4816-D121B4197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00660"/>
            <a:ext cx="9601200" cy="9601200"/>
          </a:xfrm>
          <a:prstGeom prst="rect">
            <a:avLst/>
          </a:prstGeom>
        </p:spPr>
      </p:pic>
      <p:sp>
        <p:nvSpPr>
          <p:cNvPr id="14" name="fundo_subtitulo">
            <a:extLst>
              <a:ext uri="{FF2B5EF4-FFF2-40B4-BE49-F238E27FC236}">
                <a16:creationId xmlns:a16="http://schemas.microsoft.com/office/drawing/2014/main" id="{CECE1AD7-AD65-2877-B848-F4A38CF96147}"/>
              </a:ext>
            </a:extLst>
          </p:cNvPr>
          <p:cNvSpPr/>
          <p:nvPr/>
        </p:nvSpPr>
        <p:spPr>
          <a:xfrm>
            <a:off x="0" y="2446960"/>
            <a:ext cx="9601200" cy="830997"/>
          </a:xfrm>
          <a:prstGeom prst="rect">
            <a:avLst/>
          </a:prstGeom>
          <a:solidFill>
            <a:srgbClr val="36A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7405FB1-0AFE-DF6D-4838-8755D3F2C988}"/>
              </a:ext>
            </a:extLst>
          </p:cNvPr>
          <p:cNvSpPr txBox="1"/>
          <p:nvPr/>
        </p:nvSpPr>
        <p:spPr>
          <a:xfrm>
            <a:off x="-11644" y="-11681"/>
            <a:ext cx="12141757" cy="2800767"/>
          </a:xfrm>
          <a:prstGeom prst="rect">
            <a:avLst/>
          </a:prstGeom>
          <a:noFill/>
          <a:effectLst>
            <a:glow rad="1092200">
              <a:schemeClr val="accent1">
                <a:alpha val="28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8800" dirty="0">
                <a:solidFill>
                  <a:schemeClr val="bg1"/>
                </a:solidFill>
                <a:effectLst>
                  <a:glow rad="342900">
                    <a:srgbClr val="37ABFF"/>
                  </a:glow>
                </a:effectLst>
                <a:latin typeface="8BIT WONDER"/>
                <a:ea typeface="+mn-lt"/>
                <a:cs typeface="+mn-lt"/>
              </a:rPr>
              <a:t>Força </a:t>
            </a:r>
            <a:r>
              <a:rPr lang="pt-BR" sz="8800" dirty="0" err="1">
                <a:solidFill>
                  <a:schemeClr val="bg1"/>
                </a:solidFill>
                <a:effectLst>
                  <a:glow rad="342900">
                    <a:srgbClr val="37ABFF"/>
                  </a:glow>
                </a:effectLst>
                <a:latin typeface="8BIT WONDER"/>
                <a:ea typeface="+mn-lt"/>
                <a:cs typeface="+mn-lt"/>
              </a:rPr>
              <a:t>Ladder</a:t>
            </a:r>
            <a:r>
              <a:rPr lang="pt-BR" sz="8800" dirty="0">
                <a:solidFill>
                  <a:schemeClr val="bg1"/>
                </a:solidFill>
                <a:effectLst>
                  <a:glow rad="342900">
                    <a:srgbClr val="37ABFF"/>
                  </a:glow>
                </a:effectLst>
                <a:latin typeface="8BIT WONDER"/>
                <a:ea typeface="+mn-lt"/>
                <a:cs typeface="+mn-lt"/>
              </a:rPr>
              <a:t>:</a:t>
            </a:r>
            <a:br>
              <a:rPr lang="pt-BR" sz="8800" dirty="0">
                <a:solidFill>
                  <a:schemeClr val="bg1"/>
                </a:solidFill>
                <a:effectLst>
                  <a:glow rad="342900">
                    <a:srgbClr val="37ABFF"/>
                  </a:glow>
                </a:effectLst>
                <a:latin typeface="8BIT WONDER"/>
                <a:ea typeface="+mn-lt"/>
                <a:cs typeface="+mn-lt"/>
              </a:rPr>
            </a:br>
            <a:r>
              <a:rPr lang="pt-BR" sz="8800" dirty="0">
                <a:solidFill>
                  <a:schemeClr val="bg1"/>
                </a:solidFill>
                <a:effectLst>
                  <a:glow rad="342900">
                    <a:srgbClr val="37ABFF"/>
                  </a:glow>
                </a:effectLst>
                <a:latin typeface="8BIT WONDER"/>
                <a:ea typeface="+mn-lt"/>
                <a:cs typeface="+mn-lt"/>
              </a:rPr>
              <a:t> Domine o PLC</a:t>
            </a:r>
            <a:endParaRPr lang="pt-BR" sz="88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fundo_rodape">
            <a:extLst>
              <a:ext uri="{FF2B5EF4-FFF2-40B4-BE49-F238E27FC236}">
                <a16:creationId xmlns:a16="http://schemas.microsoft.com/office/drawing/2014/main" id="{8A5EDDAD-04F3-2FDC-9612-B1EBD47701CD}"/>
              </a:ext>
            </a:extLst>
          </p:cNvPr>
          <p:cNvSpPr/>
          <p:nvPr/>
        </p:nvSpPr>
        <p:spPr>
          <a:xfrm>
            <a:off x="2612571" y="11632661"/>
            <a:ext cx="4378164" cy="830997"/>
          </a:xfrm>
          <a:prstGeom prst="rect">
            <a:avLst/>
          </a:prstGeom>
          <a:solidFill>
            <a:srgbClr val="36AB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odape">
            <a:extLst>
              <a:ext uri="{FF2B5EF4-FFF2-40B4-BE49-F238E27FC236}">
                <a16:creationId xmlns:a16="http://schemas.microsoft.com/office/drawing/2014/main" id="{6275A980-272E-6995-30C1-C7DA34BD34F2}"/>
              </a:ext>
            </a:extLst>
          </p:cNvPr>
          <p:cNvSpPr txBox="1"/>
          <p:nvPr/>
        </p:nvSpPr>
        <p:spPr>
          <a:xfrm>
            <a:off x="3008282" y="11632661"/>
            <a:ext cx="358463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800" dirty="0">
                <a:solidFill>
                  <a:srgbClr val="0D0A27"/>
                </a:solidFill>
                <a:latin typeface="Impact"/>
              </a:rPr>
              <a:t>Luiz Arthur</a:t>
            </a:r>
            <a:endParaRPr lang="pt-BR" sz="4800" dirty="0">
              <a:solidFill>
                <a:srgbClr val="0D0A27"/>
              </a:solidFill>
              <a:latin typeface="Impact" panose="020B0806030902050204" pitchFamily="34" charset="0"/>
            </a:endParaRPr>
          </a:p>
        </p:txBody>
      </p:sp>
      <p:sp>
        <p:nvSpPr>
          <p:cNvPr id="15" name="subtitulo_componente">
            <a:extLst>
              <a:ext uri="{FF2B5EF4-FFF2-40B4-BE49-F238E27FC236}">
                <a16:creationId xmlns:a16="http://schemas.microsoft.com/office/drawing/2014/main" id="{4AC64B63-F496-F80D-2DF0-D95D155A98DB}"/>
              </a:ext>
            </a:extLst>
          </p:cNvPr>
          <p:cNvSpPr txBox="1"/>
          <p:nvPr/>
        </p:nvSpPr>
        <p:spPr>
          <a:xfrm>
            <a:off x="250420" y="10217501"/>
            <a:ext cx="910036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+mj-lt"/>
              </a:rPr>
              <a:t>Aprenda quais são os princípios básicos de um </a:t>
            </a:r>
            <a:r>
              <a:rPr lang="pt-BR" sz="3200" dirty="0" err="1">
                <a:solidFill>
                  <a:schemeClr val="bg1"/>
                </a:solidFill>
                <a:latin typeface="+mj-lt"/>
              </a:rPr>
              <a:t>ladder</a:t>
            </a:r>
            <a:r>
              <a:rPr lang="pt-BR" sz="3200" dirty="0">
                <a:solidFill>
                  <a:schemeClr val="bg1"/>
                </a:solidFill>
                <a:latin typeface="+mj-lt"/>
              </a:rPr>
              <a:t> e do PLC</a:t>
            </a:r>
          </a:p>
        </p:txBody>
      </p:sp>
    </p:spTree>
    <p:extLst>
      <p:ext uri="{BB962C8B-B14F-4D97-AF65-F5344CB8AC3E}">
        <p14:creationId xmlns:p14="http://schemas.microsoft.com/office/powerpoint/2010/main" val="20601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703224"/>
            <a:ext cx="7816645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dirty="0">
                <a:ea typeface="+mn-lt"/>
                <a:cs typeface="+mn-lt"/>
              </a:rPr>
              <a:t>A programação </a:t>
            </a:r>
            <a:r>
              <a:rPr lang="pt-BR" sz="2400" dirty="0" err="1">
                <a:ea typeface="+mn-lt"/>
                <a:cs typeface="+mn-lt"/>
              </a:rPr>
              <a:t>Ladder</a:t>
            </a:r>
            <a:r>
              <a:rPr lang="pt-BR" sz="2400" dirty="0">
                <a:ea typeface="+mn-lt"/>
                <a:cs typeface="+mn-lt"/>
              </a:rPr>
              <a:t> é amplamente utilizada em controladores lógicos programáveis (</a:t>
            </a:r>
            <a:r>
              <a:rPr lang="pt-BR" sz="2400" dirty="0" err="1">
                <a:ea typeface="+mn-lt"/>
                <a:cs typeface="+mn-lt"/>
              </a:rPr>
              <a:t>CLPs</a:t>
            </a:r>
            <a:r>
              <a:rPr lang="pt-BR" sz="2400" dirty="0">
                <a:ea typeface="+mn-lt"/>
                <a:cs typeface="+mn-lt"/>
              </a:rPr>
              <a:t>) na indústria. Seu visual lembra um circuito elétrico, o que facilita o entendimento para técnicos, engenheiros e profissionais de manutenção. O objetivo do </a:t>
            </a:r>
            <a:r>
              <a:rPr lang="pt-BR" sz="2400" dirty="0" err="1">
                <a:ea typeface="+mn-lt"/>
                <a:cs typeface="+mn-lt"/>
              </a:rPr>
              <a:t>Ladder</a:t>
            </a:r>
            <a:r>
              <a:rPr lang="pt-BR" sz="2400" dirty="0">
                <a:ea typeface="+mn-lt"/>
                <a:cs typeface="+mn-lt"/>
              </a:rPr>
              <a:t> é automatizar processos, tomar decisões lógicas e controlar equipamentos de forma segura e confiável.</a:t>
            </a:r>
            <a:endParaRPr lang="pt-BR" dirty="0">
              <a:ea typeface="+mn-lt"/>
              <a:cs typeface="+mn-lt"/>
            </a:endParaRPr>
          </a:p>
          <a:p>
            <a:pPr algn="ctr"/>
            <a:endParaRPr lang="pt-BR"/>
          </a:p>
          <a:p>
            <a:pPr algn="ctr"/>
            <a:r>
              <a:rPr lang="pt-BR" sz="2400" dirty="0">
                <a:ea typeface="+mn-lt"/>
                <a:cs typeface="+mn-lt"/>
              </a:rPr>
              <a:t>A seguir, veremos os principais componentes da linguagem </a:t>
            </a:r>
            <a:r>
              <a:rPr lang="pt-BR" sz="2400" dirty="0" err="1">
                <a:ea typeface="+mn-lt"/>
                <a:cs typeface="+mn-lt"/>
              </a:rPr>
              <a:t>Ladder</a:t>
            </a:r>
            <a:r>
              <a:rPr lang="pt-BR" sz="2400" dirty="0">
                <a:ea typeface="+mn-lt"/>
                <a:cs typeface="+mn-lt"/>
              </a:rPr>
              <a:t> e seus usos práticos no dia a dia industrial.</a:t>
            </a:r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111947" y="535734"/>
            <a:ext cx="781664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latin typeface="Impact"/>
                <a:ea typeface="+mn-lt"/>
                <a:cs typeface="+mn-lt"/>
              </a:rPr>
              <a:t>A Força da Programação </a:t>
            </a:r>
            <a:r>
              <a:rPr lang="pt-BR" sz="3600" err="1">
                <a:latin typeface="Impact"/>
                <a:ea typeface="+mn-lt"/>
                <a:cs typeface="+mn-lt"/>
              </a:rPr>
              <a:t>Ladder</a:t>
            </a:r>
            <a:r>
              <a:rPr lang="pt-BR" sz="3600" dirty="0">
                <a:latin typeface="Impact"/>
                <a:ea typeface="+mn-lt"/>
                <a:cs typeface="+mn-lt"/>
              </a:rPr>
              <a:t> na Automação</a:t>
            </a:r>
            <a:endParaRPr lang="pt-BR" sz="3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966F1B7-35CA-277C-5D23-E67A2444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7776C554-9EE8-E982-3AE3-9CFC28E46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973" y="8021582"/>
            <a:ext cx="7435463" cy="331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ea typeface="+mn-lt"/>
                <a:cs typeface="+mn-lt"/>
              </a:rPr>
              <a:t>Contatos: A Porta de Entrada do Sinal</a:t>
            </a:r>
            <a:endParaRPr lang="pt-BR" sz="7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00A01C-BA5B-3A36-1BF1-0562AE8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2E5BA-239C-6B6F-7D1E-EEC342A22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CEA8E3EA-0E0E-5C1E-7AB7-9B25F444822B}"/>
              </a:ext>
            </a:extLst>
          </p:cNvPr>
          <p:cNvSpPr txBox="1"/>
          <p:nvPr/>
        </p:nvSpPr>
        <p:spPr>
          <a:xfrm>
            <a:off x="1111947" y="535734"/>
            <a:ext cx="781664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latin typeface="Impact"/>
                <a:ea typeface="+mn-lt"/>
                <a:cs typeface="+mn-lt"/>
              </a:rPr>
              <a:t>A Força da Programação </a:t>
            </a:r>
            <a:r>
              <a:rPr lang="pt-BR" sz="3600" err="1">
                <a:latin typeface="Impact"/>
                <a:ea typeface="+mn-lt"/>
                <a:cs typeface="+mn-lt"/>
              </a:rPr>
              <a:t>Ladder</a:t>
            </a:r>
            <a:r>
              <a:rPr lang="pt-BR" sz="3600" dirty="0">
                <a:latin typeface="Impact"/>
                <a:ea typeface="+mn-lt"/>
                <a:cs typeface="+mn-lt"/>
              </a:rPr>
              <a:t> na Automação</a:t>
            </a:r>
            <a:endParaRPr lang="pt-BR" sz="3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79FD97D-103E-8A2B-A4C5-41D43C877C7B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8F8F3D05-AFA9-C43A-90D2-B0205A49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EDBDBF69-981D-1ABE-8107-A07A042AF208}"/>
              </a:ext>
            </a:extLst>
          </p:cNvPr>
          <p:cNvSpPr txBox="1"/>
          <p:nvPr/>
        </p:nvSpPr>
        <p:spPr>
          <a:xfrm>
            <a:off x="736297" y="2348395"/>
            <a:ext cx="776285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dirty="0">
                <a:ea typeface="+mn-lt"/>
                <a:cs typeface="+mn-lt"/>
              </a:rPr>
              <a:t>Os contatos representam condições. Eles podem estar abertos (NA) ou fechados (NF), assim como chaves e sensores.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7E29A1D-7EB1-78F2-581B-911D4BF0CBD0}"/>
              </a:ext>
            </a:extLst>
          </p:cNvPr>
          <p:cNvSpPr txBox="1"/>
          <p:nvPr/>
        </p:nvSpPr>
        <p:spPr>
          <a:xfrm>
            <a:off x="1283233" y="4433687"/>
            <a:ext cx="6694714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Contato NA (Normalmente Aberto)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Só permite corrente quando a condição é verdadeira.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Exemplo de aplicação: Botão de partida de um motor.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→ Só liga o motor quando o operador pressiona o botão.</a:t>
            </a:r>
            <a:endParaRPr lang="pt-BR" dirty="0"/>
          </a:p>
          <a:p>
            <a:r>
              <a:rPr lang="pt-BR" dirty="0">
                <a:ea typeface="+mn-lt"/>
                <a:cs typeface="+mn-lt"/>
              </a:rPr>
              <a:t>Contato NF (Normalmente Fechado)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Permite corrente até que a condição seja desativada.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Exemplo de aplicação: Botão de parada geral.</a:t>
            </a:r>
            <a:br>
              <a:rPr lang="pt-BR" dirty="0">
                <a:ea typeface="+mn-lt"/>
                <a:cs typeface="+mn-lt"/>
              </a:rPr>
            </a:br>
            <a:r>
              <a:rPr lang="pt-BR" dirty="0">
                <a:ea typeface="+mn-lt"/>
                <a:cs typeface="+mn-lt"/>
              </a:rPr>
              <a:t> → O motor funciona até alguém apertar o botão para parar.</a:t>
            </a:r>
            <a:endParaRPr lang="pt-BR" dirty="0"/>
          </a:p>
          <a:p>
            <a:pPr algn="l"/>
            <a:endParaRPr lang="pt-BR" dirty="0">
              <a:ea typeface="Calibri"/>
              <a:cs typeface="Calibri"/>
            </a:endParaRPr>
          </a:p>
        </p:txBody>
      </p:sp>
      <p:pic>
        <p:nvPicPr>
          <p:cNvPr id="10" name="Imagem 9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0F35764F-FC86-EEFC-B606-D12596159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173" y="7825068"/>
            <a:ext cx="5434852" cy="2315135"/>
          </a:xfrm>
          <a:prstGeom prst="rect">
            <a:avLst/>
          </a:prstGeom>
        </p:spPr>
      </p:pic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490F5B6A-E524-F9CB-0DD2-ABF9A1A1F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5480" y="10249742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850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ea typeface="+mn-lt"/>
                <a:cs typeface="+mn-lt"/>
              </a:rPr>
              <a:t>Bobinas: Ação e Comando Final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D097E9B-2BDA-D42C-D47C-437D8B7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04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CA5F7-A874-760B-5982-C8639884A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5955D30F-A6CE-0335-A04D-479C696A1113}"/>
              </a:ext>
            </a:extLst>
          </p:cNvPr>
          <p:cNvSpPr txBox="1"/>
          <p:nvPr/>
        </p:nvSpPr>
        <p:spPr>
          <a:xfrm>
            <a:off x="1111947" y="535734"/>
            <a:ext cx="781664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latin typeface="Impact"/>
                <a:ea typeface="+mn-lt"/>
                <a:cs typeface="+mn-lt"/>
              </a:rPr>
              <a:t>A Força da Programação </a:t>
            </a:r>
            <a:r>
              <a:rPr lang="pt-BR" sz="3600" err="1">
                <a:latin typeface="Impact"/>
                <a:ea typeface="+mn-lt"/>
                <a:cs typeface="+mn-lt"/>
              </a:rPr>
              <a:t>Ladder</a:t>
            </a:r>
            <a:r>
              <a:rPr lang="pt-BR" sz="3600" dirty="0">
                <a:latin typeface="Impact"/>
                <a:ea typeface="+mn-lt"/>
                <a:cs typeface="+mn-lt"/>
              </a:rPr>
              <a:t> na Automação</a:t>
            </a:r>
            <a:endParaRPr lang="pt-BR" sz="3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69CAD96-484E-842F-885C-182603F5B46C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FAD36D3A-3881-2309-AB62-169439C9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6</a:t>
            </a:fld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0D1A8E72-7747-5640-59EE-6ED7E228BB15}"/>
              </a:ext>
            </a:extLst>
          </p:cNvPr>
          <p:cNvSpPr txBox="1"/>
          <p:nvPr/>
        </p:nvSpPr>
        <p:spPr>
          <a:xfrm>
            <a:off x="736297" y="2348395"/>
            <a:ext cx="776285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dirty="0">
                <a:ea typeface="+mn-lt"/>
                <a:cs typeface="+mn-lt"/>
              </a:rPr>
              <a:t>As bobinas são o resultado da lógica. Quando a lógica do circuito é verdadeira, elas são ativadas (energizadas).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003059C-C041-B018-C4C3-677D19BE6347}"/>
              </a:ext>
            </a:extLst>
          </p:cNvPr>
          <p:cNvSpPr txBox="1"/>
          <p:nvPr/>
        </p:nvSpPr>
        <p:spPr>
          <a:xfrm>
            <a:off x="1283233" y="4433687"/>
            <a:ext cx="669471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Exemplo real: Acionar um motor, abrir uma válvula, ligar uma lâmpada de sinalização.</a:t>
            </a:r>
            <a:endParaRPr lang="pt-BR">
              <a:ea typeface="+mn-lt"/>
              <a:cs typeface="+mn-lt"/>
            </a:endParaRPr>
          </a:p>
          <a:p>
            <a:endParaRPr lang="pt-BR"/>
          </a:p>
          <a:p>
            <a:r>
              <a:rPr lang="pt-BR" dirty="0">
                <a:ea typeface="+mn-lt"/>
                <a:cs typeface="+mn-lt"/>
              </a:rPr>
              <a:t>Situação exemplo:</a:t>
            </a:r>
          </a:p>
          <a:p>
            <a:r>
              <a:rPr lang="pt-BR" dirty="0">
                <a:ea typeface="+mn-lt"/>
                <a:cs typeface="+mn-lt"/>
              </a:rPr>
              <a:t>Quando o operador aperta o botão de ligar (contato NA), a bobina do motor é energizada e o motor começa a funcionar.</a:t>
            </a:r>
          </a:p>
          <a:p>
            <a:pPr algn="l"/>
            <a:endParaRPr lang="pt-BR" dirty="0">
              <a:ea typeface="Calibri"/>
              <a:cs typeface="Calibri"/>
            </a:endParaRPr>
          </a:p>
        </p:txBody>
      </p:sp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55632188-2CC2-D612-9026-62FA2E7D2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5480" y="10007695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245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-26894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5877332"/>
            <a:ext cx="7816645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latin typeface="Impact"/>
                <a:ea typeface="+mn-lt"/>
                <a:cs typeface="+mn-lt"/>
              </a:rPr>
              <a:t>Temporizadores (TIMERS): Controlando o Tempo</a:t>
            </a:r>
            <a:endParaRPr lang="pt-BR" sz="6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61398" y="1353672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FFF15F9-9106-7134-AA2D-FD2E7ED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85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56A8-62F0-90B0-899E-1DA8DDE8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397DC1AF-116A-58A1-723E-65E29D448996}"/>
              </a:ext>
            </a:extLst>
          </p:cNvPr>
          <p:cNvSpPr txBox="1"/>
          <p:nvPr/>
        </p:nvSpPr>
        <p:spPr>
          <a:xfrm>
            <a:off x="1111947" y="535734"/>
            <a:ext cx="781664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latin typeface="Impact"/>
                <a:ea typeface="+mn-lt"/>
                <a:cs typeface="+mn-lt"/>
              </a:rPr>
              <a:t>A Força da Programação </a:t>
            </a:r>
            <a:r>
              <a:rPr lang="pt-BR" sz="3600" err="1">
                <a:latin typeface="Impact"/>
                <a:ea typeface="+mn-lt"/>
                <a:cs typeface="+mn-lt"/>
              </a:rPr>
              <a:t>Ladder</a:t>
            </a:r>
            <a:r>
              <a:rPr lang="pt-BR" sz="3600" dirty="0">
                <a:latin typeface="Impact"/>
                <a:ea typeface="+mn-lt"/>
                <a:cs typeface="+mn-lt"/>
              </a:rPr>
              <a:t> na Automação</a:t>
            </a:r>
            <a:endParaRPr lang="pt-BR" sz="3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C6C0C3-3546-6E3B-AB81-B9B8C15D5F07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A41D0BC-D7EA-2903-0B30-3E5948C9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8</a:t>
            </a:fld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EAB359E5-1589-77C4-B865-4A0E19F1D86C}"/>
              </a:ext>
            </a:extLst>
          </p:cNvPr>
          <p:cNvSpPr txBox="1"/>
          <p:nvPr/>
        </p:nvSpPr>
        <p:spPr>
          <a:xfrm>
            <a:off x="736297" y="2348395"/>
            <a:ext cx="776285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dirty="0">
                <a:ea typeface="+mn-lt"/>
                <a:cs typeface="+mn-lt"/>
              </a:rPr>
              <a:t>Os temporizadores adicionam atrasos ou tempos de funcionamento.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132935-BC9A-DBF2-2755-DBF9A7ABA8CE}"/>
              </a:ext>
            </a:extLst>
          </p:cNvPr>
          <p:cNvSpPr txBox="1"/>
          <p:nvPr/>
        </p:nvSpPr>
        <p:spPr>
          <a:xfrm>
            <a:off x="1283233" y="4433687"/>
            <a:ext cx="669471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Temporizador de Retardo na Energização (TON):</a:t>
            </a:r>
            <a:endParaRPr lang="pt-BR">
              <a:ea typeface="+mn-lt"/>
              <a:cs typeface="+mn-lt"/>
            </a:endParaRPr>
          </a:p>
          <a:p>
            <a:r>
              <a:rPr lang="pt-BR" dirty="0">
                <a:ea typeface="+mn-lt"/>
                <a:cs typeface="+mn-lt"/>
              </a:rPr>
              <a:t>Liga algo depois de um tempo programado.</a:t>
            </a:r>
          </a:p>
          <a:p>
            <a:r>
              <a:rPr lang="pt-BR" dirty="0">
                <a:ea typeface="+mn-lt"/>
                <a:cs typeface="+mn-lt"/>
              </a:rPr>
              <a:t>Exemplo: Uma esteira espera 5 segundos após o sensor detectar um produto, para garantir alinhamento antes de movimentar.</a:t>
            </a:r>
          </a:p>
          <a:p>
            <a:endParaRPr lang="pt-BR"/>
          </a:p>
          <a:p>
            <a:r>
              <a:rPr lang="pt-BR" dirty="0">
                <a:ea typeface="+mn-lt"/>
                <a:cs typeface="+mn-lt"/>
              </a:rPr>
              <a:t>Temporizador de Retardo na </a:t>
            </a:r>
            <a:r>
              <a:rPr lang="pt-BR" dirty="0" err="1">
                <a:ea typeface="+mn-lt"/>
                <a:cs typeface="+mn-lt"/>
              </a:rPr>
              <a:t>Desenergização</a:t>
            </a:r>
            <a:r>
              <a:rPr lang="pt-BR" dirty="0">
                <a:ea typeface="+mn-lt"/>
                <a:cs typeface="+mn-lt"/>
              </a:rPr>
              <a:t> (TOF):</a:t>
            </a:r>
          </a:p>
          <a:p>
            <a:r>
              <a:rPr lang="pt-BR" dirty="0">
                <a:ea typeface="+mn-lt"/>
                <a:cs typeface="+mn-lt"/>
              </a:rPr>
              <a:t>Mantém algo ligado por um tempo mesmo após o sinal terminar.</a:t>
            </a:r>
          </a:p>
          <a:p>
            <a:r>
              <a:rPr lang="pt-BR" dirty="0">
                <a:ea typeface="+mn-lt"/>
                <a:cs typeface="+mn-lt"/>
              </a:rPr>
              <a:t>Exemplo: Ventoinha do painel permanece ligada por 10 segundos após o maquinário desligar, para resfriamento.</a:t>
            </a:r>
          </a:p>
          <a:p>
            <a:pPr algn="l"/>
            <a:endParaRPr lang="pt-BR" dirty="0">
              <a:ea typeface="Calibri"/>
              <a:cs typeface="Calibri"/>
            </a:endParaRPr>
          </a:p>
        </p:txBody>
      </p:sp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251CD4A2-4506-D306-13ED-BC0D36970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2874115" y="9577389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899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65383" y="5473920"/>
            <a:ext cx="7816645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ea typeface="+mn-lt"/>
                <a:cs typeface="+mn-lt"/>
              </a:rPr>
              <a:t>Contadores (COUNTERS): Contando Eventos</a:t>
            </a:r>
            <a:endParaRPr lang="pt-BR" sz="6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88292" y="950260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A26FB245-ED35-8115-4128-B27CC5C3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37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9B0EF-C0A5-7968-2EFD-F9919693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1D4FCED-C83D-5B62-8FD8-FEE8D12016C2}"/>
              </a:ext>
            </a:extLst>
          </p:cNvPr>
          <p:cNvSpPr txBox="1"/>
          <p:nvPr/>
        </p:nvSpPr>
        <p:spPr>
          <a:xfrm>
            <a:off x="1111947" y="535734"/>
            <a:ext cx="781664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latin typeface="Impact"/>
                <a:ea typeface="+mn-lt"/>
                <a:cs typeface="+mn-lt"/>
              </a:rPr>
              <a:t>A Força da Programação </a:t>
            </a:r>
            <a:r>
              <a:rPr lang="pt-BR" sz="3600" err="1">
                <a:latin typeface="Impact"/>
                <a:ea typeface="+mn-lt"/>
                <a:cs typeface="+mn-lt"/>
              </a:rPr>
              <a:t>Ladder</a:t>
            </a:r>
            <a:r>
              <a:rPr lang="pt-BR" sz="3600" dirty="0">
                <a:latin typeface="Impact"/>
                <a:ea typeface="+mn-lt"/>
                <a:cs typeface="+mn-lt"/>
              </a:rPr>
              <a:t> na Automação</a:t>
            </a:r>
            <a:endParaRPr lang="pt-BR" sz="3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C994481-C6D7-AD3E-8E8D-94F048D359B9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291BBC4-F9F0-00BA-7FDA-BFB67A679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10</a:t>
            </a:fld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873CABD2-798E-EDB3-B411-653CDDEBC79B}"/>
              </a:ext>
            </a:extLst>
          </p:cNvPr>
          <p:cNvSpPr txBox="1"/>
          <p:nvPr/>
        </p:nvSpPr>
        <p:spPr>
          <a:xfrm>
            <a:off x="736297" y="2348395"/>
            <a:ext cx="776285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dirty="0">
                <a:ea typeface="+mn-lt"/>
                <a:cs typeface="+mn-lt"/>
              </a:rPr>
              <a:t>Os contadores acumulam pulsos gerados por sensores ou ciclos de operação.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4BC7F5F-EEA2-E659-F80B-EA0496D18E86}"/>
              </a:ext>
            </a:extLst>
          </p:cNvPr>
          <p:cNvSpPr txBox="1"/>
          <p:nvPr/>
        </p:nvSpPr>
        <p:spPr>
          <a:xfrm>
            <a:off x="1283233" y="4433687"/>
            <a:ext cx="669471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Exemplo de aplicação: Contar peças produzidas em uma linha.</a:t>
            </a:r>
          </a:p>
          <a:p>
            <a:r>
              <a:rPr lang="pt-BR" dirty="0">
                <a:ea typeface="+mn-lt"/>
                <a:cs typeface="+mn-lt"/>
              </a:rPr>
              <a:t>Quando o contador atinge o valor desejado, uma saída é ativada (ex.: alarme ou parada de máquina).</a:t>
            </a:r>
            <a:endParaRPr lang="pt-BR" dirty="0"/>
          </a:p>
          <a:p>
            <a:endParaRPr lang="pt-BR"/>
          </a:p>
          <a:p>
            <a:r>
              <a:rPr lang="pt-BR" dirty="0">
                <a:ea typeface="+mn-lt"/>
                <a:cs typeface="+mn-lt"/>
              </a:rPr>
              <a:t>Situação real:</a:t>
            </a:r>
          </a:p>
          <a:p>
            <a:r>
              <a:rPr lang="pt-BR" dirty="0">
                <a:ea typeface="+mn-lt"/>
                <a:cs typeface="+mn-lt"/>
              </a:rPr>
              <a:t>A cada peça detectada pelo sensor fotoelétrico, soma-se +1 no contador.</a:t>
            </a:r>
          </a:p>
          <a:p>
            <a:r>
              <a:rPr lang="pt-BR" dirty="0">
                <a:ea typeface="+mn-lt"/>
                <a:cs typeface="+mn-lt"/>
              </a:rPr>
              <a:t>Ao chegar em 100 peças, o sistema envia sinal para descarregar a caixa.</a:t>
            </a:r>
          </a:p>
          <a:p>
            <a:pPr algn="l"/>
            <a:endParaRPr lang="pt-BR" dirty="0">
              <a:ea typeface="Calibri"/>
              <a:cs typeface="Calibri"/>
            </a:endParaRPr>
          </a:p>
        </p:txBody>
      </p:sp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216A6C68-2BA8-2409-B5BC-E9C63C66C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2874115" y="9819436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959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11595" y="5984908"/>
            <a:ext cx="7816645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ea typeface="+mn-lt"/>
                <a:cs typeface="+mn-lt"/>
              </a:rPr>
              <a:t>Comparadores: Tomando Decisões com Dados</a:t>
            </a:r>
            <a:endParaRPr lang="pt-BR" sz="6000" dirty="0">
              <a:solidFill>
                <a:schemeClr val="bg1"/>
              </a:solidFill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0F6146A-7175-FD15-9D6E-9F3335CC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566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4180-DCCA-D170-64F9-42F81DA2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C79F91A4-CB70-0B29-34C4-CCAD16D6EBFE}"/>
              </a:ext>
            </a:extLst>
          </p:cNvPr>
          <p:cNvSpPr txBox="1"/>
          <p:nvPr/>
        </p:nvSpPr>
        <p:spPr>
          <a:xfrm>
            <a:off x="1111947" y="535734"/>
            <a:ext cx="781664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latin typeface="Impact"/>
                <a:ea typeface="+mn-lt"/>
                <a:cs typeface="+mn-lt"/>
              </a:rPr>
              <a:t>A Força da Programação </a:t>
            </a:r>
            <a:r>
              <a:rPr lang="pt-BR" sz="3600" err="1">
                <a:latin typeface="Impact"/>
                <a:ea typeface="+mn-lt"/>
                <a:cs typeface="+mn-lt"/>
              </a:rPr>
              <a:t>Ladder</a:t>
            </a:r>
            <a:r>
              <a:rPr lang="pt-BR" sz="3600" dirty="0">
                <a:latin typeface="Impact"/>
                <a:ea typeface="+mn-lt"/>
                <a:cs typeface="+mn-lt"/>
              </a:rPr>
              <a:t> na Automação</a:t>
            </a:r>
            <a:endParaRPr lang="pt-BR" sz="3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29E50CC-A7FD-21EB-E2F9-6AB730DEBAF0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A6BACEC9-27BD-E4D5-670B-163A1013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12</a:t>
            </a:fld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1A32F935-69E9-6383-1410-5C67E432FF9A}"/>
              </a:ext>
            </a:extLst>
          </p:cNvPr>
          <p:cNvSpPr txBox="1"/>
          <p:nvPr/>
        </p:nvSpPr>
        <p:spPr>
          <a:xfrm>
            <a:off x="736297" y="2348395"/>
            <a:ext cx="776285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dirty="0">
                <a:ea typeface="+mn-lt"/>
                <a:cs typeface="+mn-lt"/>
              </a:rPr>
              <a:t>Comparadores permitem comparar valores dentro do CLP.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DCE23D3-AEF9-D9FD-E50C-163C9E90ED44}"/>
              </a:ext>
            </a:extLst>
          </p:cNvPr>
          <p:cNvSpPr txBox="1"/>
          <p:nvPr/>
        </p:nvSpPr>
        <p:spPr>
          <a:xfrm>
            <a:off x="1283233" y="4433687"/>
            <a:ext cx="669471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Exemplo: Se o contador atingiu 50 → Acione uma válvula.</a:t>
            </a:r>
          </a:p>
          <a:p>
            <a:endParaRPr lang="pt-BR"/>
          </a:p>
          <a:p>
            <a:r>
              <a:rPr lang="pt-BR" dirty="0">
                <a:ea typeface="+mn-lt"/>
                <a:cs typeface="+mn-lt"/>
              </a:rPr>
              <a:t>Outro exemplo: Se a temperatura &gt; 80°C → Ligue o ventilador.</a:t>
            </a:r>
          </a:p>
          <a:p>
            <a:endParaRPr lang="pt-BR"/>
          </a:p>
          <a:p>
            <a:r>
              <a:rPr lang="pt-BR" dirty="0">
                <a:ea typeface="+mn-lt"/>
                <a:cs typeface="+mn-lt"/>
              </a:rPr>
              <a:t>Esse recurso permite automação mais inteligente, baseada em condições reais de processo.</a:t>
            </a:r>
            <a:endParaRPr lang="pt-BR" dirty="0"/>
          </a:p>
        </p:txBody>
      </p:sp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6088ABC0-0F96-9722-25A7-07F366AF2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2874115" y="9577389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851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65383" y="5473920"/>
            <a:ext cx="7816645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ea typeface="+mn-lt"/>
                <a:cs typeface="+mn-lt"/>
              </a:rPr>
              <a:t>Funções de Retenção (LATCH / SEAL IN): Mantendo o Estado</a:t>
            </a:r>
            <a:endParaRPr lang="pt-BR" sz="6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61398" y="950260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981968B5-ADB4-7523-F4E9-54DB02B7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7831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89BA-D882-2C22-3B21-A22CC4804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E1E1810C-E0B0-2C19-5C00-FF69A5F45987}"/>
              </a:ext>
            </a:extLst>
          </p:cNvPr>
          <p:cNvSpPr txBox="1"/>
          <p:nvPr/>
        </p:nvSpPr>
        <p:spPr>
          <a:xfrm>
            <a:off x="1111947" y="535734"/>
            <a:ext cx="781664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latin typeface="Impact"/>
                <a:ea typeface="+mn-lt"/>
                <a:cs typeface="+mn-lt"/>
              </a:rPr>
              <a:t>A Força da Programação </a:t>
            </a:r>
            <a:r>
              <a:rPr lang="pt-BR" sz="3600" err="1">
                <a:latin typeface="Impact"/>
                <a:ea typeface="+mn-lt"/>
                <a:cs typeface="+mn-lt"/>
              </a:rPr>
              <a:t>Ladder</a:t>
            </a:r>
            <a:r>
              <a:rPr lang="pt-BR" sz="3600" dirty="0">
                <a:latin typeface="Impact"/>
                <a:ea typeface="+mn-lt"/>
                <a:cs typeface="+mn-lt"/>
              </a:rPr>
              <a:t> na Automação</a:t>
            </a:r>
            <a:endParaRPr lang="pt-BR" sz="3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5700AF1-041C-8DD6-CA85-C18361865D33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4C0A55CE-30F1-003B-9C8B-96DA6C34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14</a:t>
            </a:fld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DF256FAC-5453-F4A2-590F-9962C5733C04}"/>
              </a:ext>
            </a:extLst>
          </p:cNvPr>
          <p:cNvSpPr txBox="1"/>
          <p:nvPr/>
        </p:nvSpPr>
        <p:spPr>
          <a:xfrm>
            <a:off x="736297" y="2348395"/>
            <a:ext cx="7762857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 dirty="0">
                <a:ea typeface="+mn-lt"/>
                <a:cs typeface="+mn-lt"/>
              </a:rPr>
              <a:t>São lógicas que mantêm um equipamento ligado mesmo depois que o botão foi solto.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4D937F5-AE6A-9758-7CF3-34D2741C5B7A}"/>
              </a:ext>
            </a:extLst>
          </p:cNvPr>
          <p:cNvSpPr txBox="1"/>
          <p:nvPr/>
        </p:nvSpPr>
        <p:spPr>
          <a:xfrm>
            <a:off x="1283233" y="4433687"/>
            <a:ext cx="669471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dirty="0">
                <a:ea typeface="+mn-lt"/>
                <a:cs typeface="+mn-lt"/>
              </a:rPr>
              <a:t>Exemplo clássico:</a:t>
            </a:r>
          </a:p>
          <a:p>
            <a:r>
              <a:rPr lang="pt-BR" dirty="0">
                <a:ea typeface="+mn-lt"/>
                <a:cs typeface="+mn-lt"/>
              </a:rPr>
              <a:t>Botão de liga + selo mantém o motor ligado.</a:t>
            </a:r>
          </a:p>
          <a:p>
            <a:r>
              <a:rPr lang="pt-BR" dirty="0">
                <a:ea typeface="+mn-lt"/>
                <a:cs typeface="+mn-lt"/>
              </a:rPr>
              <a:t>Botão de desliga quebra o selo e o motor para.</a:t>
            </a:r>
            <a:endParaRPr lang="pt-BR" dirty="0"/>
          </a:p>
          <a:p>
            <a:endParaRPr lang="pt-BR"/>
          </a:p>
          <a:p>
            <a:r>
              <a:rPr lang="pt-BR" dirty="0">
                <a:ea typeface="+mn-lt"/>
                <a:cs typeface="+mn-lt"/>
              </a:rPr>
              <a:t>Essa lógica é base para 90% das partidas de motores industriais.</a:t>
            </a:r>
          </a:p>
          <a:p>
            <a:pPr algn="l"/>
            <a:endParaRPr lang="pt-BR" dirty="0">
              <a:ea typeface="Calibri"/>
              <a:cs typeface="Calibri"/>
            </a:endParaRPr>
          </a:p>
        </p:txBody>
      </p:sp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B2EBD518-43BA-4589-5121-3F48D6F63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2793433" y="9012612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904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7668B-84AF-C575-218C-FD87B6C8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4A17503-0136-F23A-C030-FEC8B28F6C7F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F359E818-38D9-E20A-EE64-2B2219D8BDDC}"/>
              </a:ext>
            </a:extLst>
          </p:cNvPr>
          <p:cNvSpPr txBox="1"/>
          <p:nvPr/>
        </p:nvSpPr>
        <p:spPr>
          <a:xfrm>
            <a:off x="865383" y="5877332"/>
            <a:ext cx="781664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ea typeface="+mn-lt"/>
                <a:cs typeface="+mn-lt"/>
              </a:rPr>
              <a:t>Conclusão: O Caminho do Mestre </a:t>
            </a:r>
            <a:r>
              <a:rPr lang="pt-BR" sz="6000" dirty="0" err="1">
                <a:solidFill>
                  <a:schemeClr val="bg1"/>
                </a:solidFill>
                <a:ea typeface="+mn-lt"/>
                <a:cs typeface="+mn-lt"/>
              </a:rPr>
              <a:t>Ladder</a:t>
            </a:r>
            <a:endParaRPr lang="pt-BR" dirty="0" err="1">
              <a:solidFill>
                <a:schemeClr val="bg1"/>
              </a:solidFill>
            </a:endParaRP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3E8FBE09-1E93-9640-45B3-6008A7722A40}"/>
              </a:ext>
            </a:extLst>
          </p:cNvPr>
          <p:cNvSpPr txBox="1"/>
          <p:nvPr/>
        </p:nvSpPr>
        <p:spPr>
          <a:xfrm>
            <a:off x="861398" y="654425"/>
            <a:ext cx="7816645" cy="45089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8700">
                <a:ln>
                  <a:solidFill>
                    <a:srgbClr val="11FFFE"/>
                  </a:solidFill>
                </a:ln>
                <a:noFill/>
                <a:latin typeface="Impact"/>
              </a:rPr>
              <a:t>07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D34C544-7C6D-0ECE-B47B-288855A7FC5A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AD08462-F7C1-454E-AA46-A51CEE1D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4095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7689-89A7-BCFF-85F7-4F30EC70E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ulo_componente">
            <a:extLst>
              <a:ext uri="{FF2B5EF4-FFF2-40B4-BE49-F238E27FC236}">
                <a16:creationId xmlns:a16="http://schemas.microsoft.com/office/drawing/2014/main" id="{CD4D4B55-2E84-760C-D99B-6D015987D6BB}"/>
              </a:ext>
            </a:extLst>
          </p:cNvPr>
          <p:cNvSpPr txBox="1"/>
          <p:nvPr/>
        </p:nvSpPr>
        <p:spPr>
          <a:xfrm>
            <a:off x="1111947" y="535734"/>
            <a:ext cx="781664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3600" dirty="0">
                <a:latin typeface="Impact"/>
                <a:ea typeface="+mn-lt"/>
                <a:cs typeface="+mn-lt"/>
              </a:rPr>
              <a:t>A Força da Programação </a:t>
            </a:r>
            <a:r>
              <a:rPr lang="pt-BR" sz="3600" err="1">
                <a:latin typeface="Impact"/>
                <a:ea typeface="+mn-lt"/>
                <a:cs typeface="+mn-lt"/>
              </a:rPr>
              <a:t>Ladder</a:t>
            </a:r>
            <a:r>
              <a:rPr lang="pt-BR" sz="3600" dirty="0">
                <a:latin typeface="Impact"/>
                <a:ea typeface="+mn-lt"/>
                <a:cs typeface="+mn-lt"/>
              </a:rPr>
              <a:t> na Automação</a:t>
            </a:r>
            <a:endParaRPr lang="pt-BR" sz="3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444FE9D-9ADA-FDF5-64DB-375BA672B36E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68D8ED92-8D8A-A912-8BC2-67FF07AB0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16</a:t>
            </a:fld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197602EB-5710-72BF-E7E5-EB1EF5BC6E26}"/>
              </a:ext>
            </a:extLst>
          </p:cNvPr>
          <p:cNvSpPr txBox="1"/>
          <p:nvPr/>
        </p:nvSpPr>
        <p:spPr>
          <a:xfrm>
            <a:off x="736297" y="3585524"/>
            <a:ext cx="7762857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pt-BR" sz="2400">
                <a:ea typeface="+mn-lt"/>
                <a:cs typeface="+mn-lt"/>
              </a:rPr>
              <a:t>A programação </a:t>
            </a:r>
            <a:r>
              <a:rPr lang="pt-BR" sz="2400" err="1">
                <a:ea typeface="+mn-lt"/>
                <a:cs typeface="+mn-lt"/>
              </a:rPr>
              <a:t>Ladder</a:t>
            </a:r>
            <a:r>
              <a:rPr lang="pt-BR" sz="2400">
                <a:ea typeface="+mn-lt"/>
                <a:cs typeface="+mn-lt"/>
              </a:rPr>
              <a:t> é poderosa por ser visual, lógica e extremamente aplicada em ambientes reais. Aprender seus componentes fundamentais é o primeiro passo para dominar automação industrial.</a:t>
            </a:r>
            <a:endParaRPr lang="pt-BR"/>
          </a:p>
          <a:p>
            <a:pPr algn="ctr"/>
            <a:endParaRPr lang="pt-BR"/>
          </a:p>
          <a:p>
            <a:pPr algn="ctr"/>
            <a:r>
              <a:rPr lang="pt-BR" sz="2400" dirty="0">
                <a:ea typeface="+mn-lt"/>
                <a:cs typeface="+mn-lt"/>
              </a:rPr>
              <a:t>Com contatos, bobinas, temporizadores, contadores e comparadores, é possível criar processos confiáveis, seguros e fáceis de manter — e esse conhecimento é utilizado diariamente em fábricas, elevadores, máquinas CNC, sistemas prediais e plantas industriais.</a:t>
            </a:r>
            <a:endParaRPr lang="pt-BR" dirty="0">
              <a:ea typeface="+mn-lt"/>
              <a:cs typeface="+mn-lt"/>
            </a:endParaRPr>
          </a:p>
        </p:txBody>
      </p:sp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E1E1AB8F-08CB-622C-6DAE-3DB566BF7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2874115" y="9362236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4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A</a:t>
            </a:r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GRADECIMENTOS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7204EBB-9793-B1C1-E210-A22022EF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956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Esse Ebook foi gerado por IA, e diagramado por humano.</a:t>
            </a:r>
            <a:br>
              <a:rPr lang="pt-BR" sz="2400" dirty="0"/>
            </a:br>
            <a:r>
              <a:rPr lang="pt-BR" sz="2400" dirty="0"/>
              <a:t>O passo a passo se encontra no meu </a:t>
            </a:r>
            <a:r>
              <a:rPr lang="pt-BR" sz="2400" dirty="0" err="1"/>
              <a:t>Github</a:t>
            </a:r>
            <a:endParaRPr lang="pt-BR" sz="2400" dirty="0"/>
          </a:p>
          <a:p>
            <a:pPr algn="ctr"/>
            <a:r>
              <a:rPr lang="pt-BR" sz="4400" dirty="0"/>
              <a:t>.</a:t>
            </a:r>
            <a:br>
              <a:rPr lang="pt-BR" sz="2400" dirty="0"/>
            </a:br>
            <a:r>
              <a:rPr lang="pt-BR" sz="2400" dirty="0"/>
              <a:t>Esse conteúdo foi gerado com fins didáticos de construção, não foi realizado uma validação cuidadosa humana no conteúdo e pode conter erros gerados por uma 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269438" y="777781"/>
            <a:ext cx="830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OBRIGADO POR LER ATÉ AQUI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194B7CE-3343-6082-D5FE-370D98CA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18</a:t>
            </a:fld>
            <a:endParaRPr lang="pt-BR"/>
          </a:p>
        </p:txBody>
      </p:sp>
      <p:pic>
        <p:nvPicPr>
          <p:cNvPr id="1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7695C4A0-10A4-51FD-7FCE-43223D6F6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2874115" y="971271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4CCAA8B8-6479-A21B-B3AF-4D0014CE7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5480" y="10651569"/>
            <a:ext cx="3524250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495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5136</TotalTime>
  <Words>1336</Words>
  <Application>Microsoft Office PowerPoint</Application>
  <PresentationFormat>Papel A3 (297 x 420 mm)</PresentationFormat>
  <Paragraphs>109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Silva Aguiar</dc:creator>
  <cp:lastModifiedBy>Felipe Silva Aguiar</cp:lastModifiedBy>
  <cp:revision>108</cp:revision>
  <dcterms:created xsi:type="dcterms:W3CDTF">2023-06-15T14:34:16Z</dcterms:created>
  <dcterms:modified xsi:type="dcterms:W3CDTF">2025-11-08T14:36:42Z</dcterms:modified>
</cp:coreProperties>
</file>